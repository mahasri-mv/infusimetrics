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61" r:id="rId9"/>
    <p:sldId id="262" r:id="rId10"/>
    <p:sldId id="263" r:id="rId11"/>
    <p:sldId id="264" r:id="rId12"/>
    <p:sldId id="272" r:id="rId13"/>
    <p:sldId id="265" r:id="rId14"/>
    <p:sldId id="266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8192C7A-A48D-1BFC-B906-9370F5ABBE60}">
          <p14:sldIdLst>
            <p14:sldId id="256"/>
            <p14:sldId id="257"/>
          </p14:sldIdLst>
        </p14:section>
        <p14:section name="Design" id="{4C2A8885-A052-5387-E6C9-CF0BD7CEC6C9}">
          <p14:sldIdLst>
            <p14:sldId id="258"/>
            <p14:sldId id="259"/>
            <p14:sldId id="270"/>
          </p14:sldIdLst>
        </p14:section>
        <p14:section name="Implementation" id="{04D4AE7F-B1B8-A5FD-4D7F-97D9D7F1288A}">
          <p14:sldIdLst>
            <p14:sldId id="260"/>
            <p14:sldId id="271"/>
            <p14:sldId id="261"/>
            <p14:sldId id="262"/>
            <p14:sldId id="263"/>
            <p14:sldId id="264"/>
            <p14:sldId id="272"/>
          </p14:sldIdLst>
        </p14:section>
        <p14:section name="Evaluation" id="{450F080D-E0F0-3BCE-8C0E-4AFE211B880E}">
          <p14:sldIdLst>
            <p14:sldId id="265"/>
            <p14:sldId id="266"/>
          </p14:sldIdLst>
        </p14:section>
        <p14:section name="Wrap-up" id="{6A15D4F3-7527-C865-4B1F-A304CFC2B812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6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40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InfusiMetrics  •  Embedded C Framework for Real-Time IV Fluid Monitoring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22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9144000" y="-1645920"/>
            <a:ext cx="4572000" cy="4572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•   C PROGRAMMING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83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InfusiMetrics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432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accent4"/>
                </a:solidFill>
              </a:rPr>
              <a:t>An Embedded C Framework for Real-Time IV Fluid Monitoring and Predictive Depletion Alerting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An Arduino C firmware that senses IV fluid level, predicts depletion with on-device regression, understands plain-English commands, raises an escalating nurse call and reads room temperature and distance, extended with a Python analytics dashboard.</a:t>
            </a:r>
            <a:endParaRPr lang="en-US" sz="1600" dirty="0"/>
          </a:p>
        </p:txBody>
      </p:sp>
      <p:sp>
        <p:nvSpPr>
          <p:cNvPr id="8" name="Team band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760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Mahasri Murugesan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CB.SC.U4CSE25637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5760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Mahitha 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CB.SC.U4CSE25638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5760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Sruthica M 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CB.SC.U4CSE25657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Clinical Wards Require Automated Telemetry</a:t>
            </a:r>
            <a:endParaRPr lang="en-US" sz="3000" dirty="0"/>
          </a:p>
        </p:txBody>
      </p:sp>
      <p:pic>
        <p:nvPicPr>
          <p:cNvPr id="4" name="Head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640080" cy="64008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737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16027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011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Delayed Air Embolism &amp; Reflux Risks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Manual checks mean empty bags are often noticed too late, allowing air or blood backflow into the cannula.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17920" y="1737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830" y="216027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2011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Unnoticed Flow Cessation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9224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Undetected line blockages or pinched tubing cause interrupted medication delivery without immediate staff awareness.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444627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4297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High Nurse Workload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5074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Frequent manual rounds across multiple beds lead to nurse fatigue and human error, and a patient call can go unanswered during peak shifts.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217920" y="4023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6492240" y="4297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0830" y="4446270"/>
            <a:ext cx="297180" cy="2971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69480" y="4297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Lack of Predictive Foresight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492240" y="5074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gravity-fed infusion sets offer zero analytical data or forecasting regarding exact depletion timing.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Three-Layer Pipeline: C Firmware to Python Dashboard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3291840" cy="429768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LAYER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Arduino C Firmware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Senses level, temperature and distance, runs on-device regression, text commands and the nurse-call logic, drives the displays, LEDs, buzzer and servo, and logs events to SD.</a:t>
            </a:r>
            <a:endParaRPr lang="en-US" sz="1400" dirty="0"/>
          </a:p>
        </p:txBody>
      </p:sp>
      <p:pic>
        <p:nvPicPr>
          <p:cNvPr id="10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657600"/>
            <a:ext cx="320040" cy="320040"/>
          </a:xfrm>
          <a:prstGeom prst="rect">
            <a:avLst/>
          </a:prstGeom>
        </p:spPr>
      </p:pic>
      <p:sp>
        <p:nvSpPr>
          <p:cNvPr id="11" name="Card"/>
          <p:cNvSpPr/>
          <p:nvPr/>
        </p:nvSpPr>
        <p:spPr>
          <a:xfrm>
            <a:off x="4434840" y="1737360"/>
            <a:ext cx="3291840" cy="4297680"/>
          </a:xfrm>
          <a:prstGeom prst="roundRect">
            <a:avLst>
              <a:gd name="adj" fmla="val 2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4709160" y="20116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1945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LAYER 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Serial &amp; SD Logging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709160" y="402336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DATA, EVENT, STATUS, ENV, DIST and NURSE lines stream over Serial (9600 baud); events and samples are also saved as CSV on the SD card.</a:t>
            </a:r>
            <a:endParaRPr lang="en-US" sz="1400" dirty="0"/>
          </a:p>
        </p:txBody>
      </p:sp>
      <p:pic>
        <p:nvPicPr>
          <p:cNvPr id="17" name="Arrow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657600"/>
            <a:ext cx="320040" cy="320040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8321040" y="1737360"/>
            <a:ext cx="3291840" cy="429768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859536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1945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5953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LAYER 3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59536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Python Analytics &amp; Dashboard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595360" y="402336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Scikit-Learn forecasting and a Streamlit dashboard with live cards, sensor and nurse-call status, history chart, command buttons and a query box.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HARDWARE &amp; PIN MAP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Eight Core Components Wired to the Arduino Mega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0916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Fluid Sensor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Potentiometer on A0, read as 0–100%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74136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602736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466" y="20916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16x2 I2C LCD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02736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Level, rate and status (A4/A5)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99632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428232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962" y="20916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28232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Buzzer &amp; LEDs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28232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Buzzer 8, red LED 9, green LED 10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9025128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9253728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458" y="209169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53728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Patient Bulb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53728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Glows on pin 2 when level is LOW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" y="43776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Servo Clamp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Pin 6; closes the IV line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3374136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3602736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8466" y="437769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02736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SD Card Logger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602736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SPI, chip select on pin 4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6199632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Icon circle"/>
          <p:cNvSpPr/>
          <p:nvPr/>
        </p:nvSpPr>
        <p:spPr>
          <a:xfrm>
            <a:off x="6428232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962" y="4377690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28232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GPS (NEO-6M)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428232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TX to pin 3, RX to pin 5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9025128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Icon circle"/>
          <p:cNvSpPr/>
          <p:nvPr/>
        </p:nvSpPr>
        <p:spPr>
          <a:xfrm>
            <a:off x="9253728" y="4251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1" name="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9458" y="4377690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53728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Reset Button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253728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Pin 7; silences the buzzer and clears a nurse call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ADDED COMPONENTS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Five New Components Added to the Mega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20916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Nurse Call Button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Pin 22; a press sends NURSE,1 to the dashboard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74136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602736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466" y="20916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DHT22 Sensor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02736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Pin 23; temperature and humidity every 5 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99632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428232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62" y="20916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28232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HC-SR04 Ultrasonic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28232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TRIG on pin 27, ECHO on pin 28; distance in cm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9025128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9253728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458" y="209169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53728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RGB Status LED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53728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Pins 24, 25, 26; green, amber, red or blinking blue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43776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SSD1306 OLED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I2C on pins 20 and 21; address 0x3C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3374136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3602736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8466" y="437769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02736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Shared I2C Bus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602736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LCD (0x27) and OLED (0x3C) share SDA and SCL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6199632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Icon circle"/>
          <p:cNvSpPr/>
          <p:nvPr/>
        </p:nvSpPr>
        <p:spPr>
          <a:xfrm>
            <a:off x="6428232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962" y="4377690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28232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New Libraries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428232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DHT sensor, Adafruit SSD1306 and Adafruit GFX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9025128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Icon circle"/>
          <p:cNvSpPr/>
          <p:nvPr/>
        </p:nvSpPr>
        <p:spPr>
          <a:xfrm>
            <a:off x="9253728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9458" y="4377690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53728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New Serial Lines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253728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ENV, DIST and NURSE join DATA and EVENT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 FIRMWARE LOGIC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Steps Inside loop()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Averages 8 analog readings and maps them to 0–100%.</a:t>
            </a:r>
            <a:endParaRPr lang="en-US" sz="1400" dirty="0"/>
          </a:p>
        </p:txBody>
      </p:sp>
      <p:pic>
        <p:nvPicPr>
          <p:cNvPr id="8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3657600"/>
            <a:ext cx="274320" cy="274320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342900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332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370332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Decide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LOW below 20%. The buzzer re-arms only at 25% (hysteresis).</a:t>
            </a:r>
            <a:endParaRPr lang="en-US" sz="1400" dirty="0"/>
          </a:p>
        </p:txBody>
      </p:sp>
      <p:pic>
        <p:nvPicPr>
          <p:cNvPr id="13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3657600"/>
            <a:ext cx="274320" cy="274320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630936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58368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Act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LEDs, bulb, buzzer, LCD and OLED update. Still LOW after 60 s: the servo auto-clamps.</a:t>
            </a:r>
            <a:endParaRPr lang="en-US" sz="1400" dirty="0"/>
          </a:p>
        </p:txBody>
      </p:sp>
      <p:pic>
        <p:nvPicPr>
          <p:cNvPr id="18" name="Arrow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3657600"/>
            <a:ext cx="274320" cy="274320"/>
          </a:xfrm>
          <a:prstGeom prst="rect">
            <a:avLst/>
          </a:prstGeom>
        </p:spPr>
      </p:pic>
      <p:sp>
        <p:nvSpPr>
          <p:cNvPr id="19" name="Card"/>
          <p:cNvSpPr/>
          <p:nvPr/>
        </p:nvSpPr>
        <p:spPr>
          <a:xfrm>
            <a:off x="918972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46404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4</a:t>
            </a:r>
            <a:endParaRPr lang="en-US" sz="4800" dirty="0"/>
          </a:p>
        </p:txBody>
      </p:sp>
      <p:sp>
        <p:nvSpPr>
          <p:cNvPr id="21" name="Text 16"/>
          <p:cNvSpPr txBox="1"/>
          <p:nvPr/>
        </p:nvSpPr>
        <p:spPr>
          <a:xfrm>
            <a:off x="94640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Log &amp; Alert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946404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Events and samples go to SD as CSV and to Serial, with a readable alert sentence.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NURSE CALL &amp; ESCALATION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Steps From Button Press to Acknowledgement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Press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patient presses the button on pin 22; the signal is debounced for 40 ms.</a:t>
            </a:r>
            <a:endParaRPr lang="en-US" sz="1400" dirty="0"/>
          </a:p>
        </p:txBody>
      </p:sp>
      <p:pic>
        <p:nvPicPr>
          <p:cNvPr id="8" name="Arrow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3657600"/>
            <a:ext cx="274320" cy="274320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342900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332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370332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Alert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RGB LED blinks blue and the buzzer dings. NURSE,1 and a NURSE_CALL event are sent.</a:t>
            </a:r>
            <a:endParaRPr lang="en-US" sz="1400" dirty="0"/>
          </a:p>
        </p:txBody>
      </p:sp>
      <p:pic>
        <p:nvPicPr>
          <p:cNvPr id="13" name="Arrow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3657600"/>
            <a:ext cx="274320" cy="274320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630936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58368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Escalate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reply in 30 s: fast red blink, louder buzzer and NURSE,2 on the dashboard.</a:t>
            </a:r>
            <a:endParaRPr lang="en-US" sz="1400" dirty="0"/>
          </a:p>
        </p:txBody>
      </p:sp>
      <p:pic>
        <p:nvPicPr>
          <p:cNvPr id="18" name="Arrow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3657600"/>
            <a:ext cx="274320" cy="274320"/>
          </a:xfrm>
          <a:prstGeom prst="rect">
            <a:avLst/>
          </a:prstGeom>
        </p:spPr>
      </p:pic>
      <p:sp>
        <p:nvSpPr>
          <p:cNvPr id="19" name="Card"/>
          <p:cNvSpPr/>
          <p:nvPr/>
        </p:nvSpPr>
        <p:spPr>
          <a:xfrm>
            <a:off x="9189720" y="1737360"/>
            <a:ext cx="2468880" cy="4297680"/>
          </a:xfrm>
          <a:prstGeom prst="roundRect">
            <a:avLst>
              <a:gd name="adj" fmla="val 370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464040" y="1965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4</a:t>
            </a:r>
            <a:endParaRPr lang="en-US" sz="4800" dirty="0"/>
          </a:p>
        </p:txBody>
      </p:sp>
      <p:sp>
        <p:nvSpPr>
          <p:cNvPr id="21" name="Text 16"/>
          <p:cNvSpPr txBox="1"/>
          <p:nvPr/>
        </p:nvSpPr>
        <p:spPr>
          <a:xfrm>
            <a:off x="94640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Acknowledge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9464040" y="361188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reset button or the command ack clears the call and sends NURSE,0.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ON-DEVICE MACHINE LEARNING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Regression and Anomaly Detection, Written in C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212080" cy="4343400"/>
          </a:xfrm>
          <a:prstGeom prst="roundRect">
            <a:avLst>
              <a:gd name="adj" fmla="val 210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computeDrainRate()  (excerpt)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computeDrainRate()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(histCount &lt; 4) return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sums over hist[0..n-1]: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sx, sy, sxy, sxx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slope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(n*sxy - sx*sy) 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(n*sxx - sx*sx);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-slope 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(60000.0 / ML_PERIOD_MS);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035040" y="1737360"/>
            <a:ext cx="5605272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Icon circle"/>
          <p:cNvSpPr/>
          <p:nvPr/>
        </p:nvSpPr>
        <p:spPr>
          <a:xfrm>
            <a:off x="626364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2174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32320" y="18745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Least-Squares Drain Rate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28600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Slope over the last 12 readings (one every 5 s) gives drain in % per minute.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035040" y="3246120"/>
            <a:ext cx="5605272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6263640" y="3566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37261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32320" y="33832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Time-to-Empty &amp; Early Warning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79476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Level ÷ rate predicts time to empty and to LOW, with a chirp before LOW is hit.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035040" y="4754880"/>
            <a:ext cx="5605272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263640" y="5074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523494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32320" y="48920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Leak &amp; Blockage Detection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7132320" y="530352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Short-term rate is compared with a learned baseline rate to flag a leak or a blockage.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NATURAL-LANGUAGE COMMANDS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Plain-English Control Through the Serial Monitor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34290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Intent Recognition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Keyword matching with strstr_P maps phrases like 'how long is left' to the right action.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43400" y="1737360"/>
            <a:ext cx="34290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1772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21717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Entity Extraction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3375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Reads the number after 'bed' or 'room' (e.g., 'status of bed 1') with atoi.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38160" y="1737360"/>
            <a:ext cx="34290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41248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1717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Alert Generation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3375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Builds readable sentences: bed, level, minutes to empty and location.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TRY TYPING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status   •   how long is left   •   silence alarm   •   temperature   •   distance   •   ack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 PROGRAMMING CONCEPTS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Core Language Features Used in the Firmware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0916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Types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int, float, bool, uint8_t, unsigned long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74136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602736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466" y="20916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Arrays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02736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12-reading sliding window in hist[]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99632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428232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962" y="20916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28232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Functions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28232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Modular: readLevel(), mlUpdate(), processCommand()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9025128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9253728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458" y="209169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53728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Pointers &amp; Strings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53728" y="3017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const char*, strstr_P, atoi, snprintf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" y="43776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Flow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if/else, for, while and state flags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3374136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3602736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8466" y="437769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02736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Non-blocking Timing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602736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millis() instead of delay(); also times debounce and escalation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6199632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Icon circle"/>
          <p:cNvSpPr/>
          <p:nvPr/>
        </p:nvSpPr>
        <p:spPr>
          <a:xfrm>
            <a:off x="6428232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962" y="4377690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28232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Pass by Reference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428232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Print &amp;out writes to SD or Serial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9025128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Icon circle"/>
          <p:cNvSpPr/>
          <p:nvPr/>
        </p:nvSpPr>
        <p:spPr>
          <a:xfrm>
            <a:off x="9253728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9458" y="4377690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53728" y="4892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Memory Saving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253728" y="5303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F() and PROGMEM keep text in flash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PYTHON EXTENSION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Dashboard &amp; Forecasting Built on the Firmware Data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342900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 Ingestion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background thread reads the DATA, EVENT, ENV, DIST and NURSE lines from the Wokwi serial port.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43400" y="1737360"/>
            <a:ext cx="342900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1772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21717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Scikit-Learn Forecast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3832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Linear regression on 5+ readings produces the Next IV Level Estimate.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38160" y="1737360"/>
            <a:ext cx="342900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412480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1717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Streamlit Dashboard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3832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cards, sensor and nurse-call status, history chart, command buttons and a query box ('iv low').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C firmware is the core; the Python layer extends it with visualization.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Serial Lines Streamed From the Arduino to the Dashboard</a:t>
            </a:r>
            <a:endParaRPr lang="en-US" sz="30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4343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Serial Line</a:t>
                      </a:r>
                      <a:endParaRPr lang="en-US" sz="16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 the Arduino Sends</a:t>
                      </a:r>
                      <a:endParaRPr lang="en-US" sz="16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Shown on the Dashboard</a:t>
                      </a:r>
                      <a:endParaRPr lang="en-US" sz="16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DATA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DATA,ms,level  every 5 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Level card and history chart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EVENT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EVENT,ms,level,name,rate,lat,lon  on LOW, LEAK_SUSPECTED, NURSE_CALL and similar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Recent events and drain rate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Level, rate, low, clamped and demo-simulation state  every 5 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Low alert, clamp status, Arduino status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ENV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ENV,temperature,humidity  every 5 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Temperature and humidity cards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DIST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DIST,distance_cm  every 5 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Ultrasonic distance card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NURSE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NURSE,0 idle   NURSE,1 calling   NURSE,2 unanswered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Nurse alert banner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COMPARATIVE ANALYSIS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How InfusiMetrics Surpasses Traditional Solutions</a:t>
            </a:r>
            <a:endParaRPr lang="en-US" sz="30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4343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 Parameter</a:t>
                      </a:r>
                      <a:endParaRPr lang="en-US" sz="16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Traditional Solutions</a:t>
                      </a:r>
                      <a:endParaRPr lang="en-US" sz="16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InfusiMetrics (Proposed)</a:t>
                      </a:r>
                      <a:endParaRPr lang="en-US" sz="16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Monitoring Method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Manual visual check by nurses at intervals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Continuous C-firmware sensing with live LCD and OLED status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Alert Mechanism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Basic local buzzer or patient call button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Buzzer, LEDs, patient bulb, GPS location and servo auto-clamp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Nurse Call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Call button only; nothing follows if nobody answers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Buzzer and RGB cue, escalates after 30 s and shows on the dashboard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Depletion Forecasting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None; purely reactive once bag is empty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On-device regression: time-to-empty, early warning, leak and blockage detection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Room Context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Not measured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DHT22 temperature and humidity, HC-SR04 distance, on the OLED and dashboard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User Interaction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6"/>
                          </a:solidFill>
                        </a:rPr>
                        <a:t>Static charts, paper logs, or fixed LCDs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Plain-English Serial commands plus a Python dashboard with command buttons</a:t>
                      </a:r>
                      <a:endParaRPr lang="en-US" sz="15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Validated Results from the Python Dashboard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606040" cy="43891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Live Telemetry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Wokwi sensor reading of 29% fluid level displayed live on the dashboard metric cards.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74136" y="1737360"/>
            <a:ext cx="2606040" cy="43891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02736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35.5%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ML Next-Level Estimate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36576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Scikit-Learn regression produced the 'Next IV Level Estimate' once 5+ valid readings were buffered.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99632" y="1737360"/>
            <a:ext cx="2606040" cy="43891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8232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iv low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NLP Query Result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36576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query returned 'No low-level alert is currently reported', matching the simulation state.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9025128" y="1737360"/>
            <a:ext cx="2606040" cy="43891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53728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 thread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Stability Fix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36576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Setting OPENBLAS_NUM_THREADS=1 resolved the OpenBLAS memory error; the dashboard now runs.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Expanding InfusiMetrics for Scalable Clinical Deployment</a:t>
            </a:r>
            <a:endParaRPr lang="en-US" sz="3000" dirty="0"/>
          </a:p>
        </p:txBody>
      </p:sp>
      <p:pic>
        <p:nvPicPr>
          <p:cNvPr id="4" name="Head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02920"/>
            <a:ext cx="640080" cy="64008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737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16027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011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IoT Wireless Integration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Replace serial USB communication with Wi-Fi/ESP8266 modules to send alerts and unanswered nurse calls to mobile nursing stations.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17920" y="1737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830" y="216027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2011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Multi-Bed Ward Scaling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9224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many bed monitors (each with its own BED_ID) to one centralized nursing dashboard.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444627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4297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Advanced Time-Series Models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5074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Upgrade linear regression to ARIMA or LSTM networks for long-duration depletion forecasting.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217920" y="4023360"/>
            <a:ext cx="544068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6492240" y="4297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0830" y="4446270"/>
            <a:ext cx="297180" cy="2971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69480" y="42976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Clinical Safety Expansions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492240" y="5074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optical bubble detectors to help prevent air embolisms.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137160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2194560"/>
            <a:ext cx="9445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Using embedded C for sensing, control, on-device regression, text commands and an escalating nurse call, extended by a Python dashboard, InfusiMetrics demonstrates a scalable approach to improving patient safety and reducing nursing workload.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7490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4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7" name="Team band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760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Mahasri Murugesan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CB.SC.U4CSE25637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5760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Mahitha 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CB.SC.U4CSE25638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5760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bg1"/>
                </a:solidFill>
              </a:rPr>
              <a:t>Sruthica</a:t>
            </a:r>
            <a:r>
              <a:rPr lang="en-US" sz="1600" b="1" dirty="0">
                <a:solidFill>
                  <a:schemeClr val="bg1"/>
                </a:solidFill>
              </a:rPr>
              <a:t> M 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CB.SC.U4CSE25657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usiMetrics">
  <a:themeElements>
    <a:clrScheme name="InfusiMetrics">
      <a:dk1>
        <a:srgbClr val="1F2937"/>
      </a:dk1>
      <a:lt1>
        <a:srgbClr val="FFFFFF"/>
      </a:lt1>
      <a:dk2>
        <a:srgbClr val="0A3D39"/>
      </a:dk2>
      <a:lt2>
        <a:srgbClr val="F3FAF9"/>
      </a:lt2>
      <a:accent1>
        <a:srgbClr val="0F5C56"/>
      </a:accent1>
      <a:accent2>
        <a:srgbClr val="E8590C"/>
      </a:accent2>
      <a:accent3>
        <a:srgbClr val="1E7A70"/>
      </a:accent3>
      <a:accent4>
        <a:srgbClr val="8FD4C9"/>
      </a:accent4>
      <a:accent5>
        <a:srgbClr val="2F9E44"/>
      </a:accent5>
      <a:accent6>
        <a:srgbClr val="667085"/>
      </a:accent6>
      <a:hlink>
        <a:srgbClr val="0F5C56"/>
      </a:hlink>
      <a:folHlink>
        <a:srgbClr val="667085"/>
      </a:folHlink>
    </a:clrScheme>
    <a:fontScheme name="InfusiMetr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1656</Words>
  <Application>Microsoft Office PowerPoint</Application>
  <PresentationFormat>Widescreen</PresentationFormat>
  <Paragraphs>259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InfusiMetrics</vt:lpstr>
      <vt:lpstr>PowerPoint Presentation</vt:lpstr>
      <vt:lpstr>Why Clinical Wards Require Automated Telemetry</vt:lpstr>
      <vt:lpstr>Three-Layer Pipeline: C Firmware to Python Dashboard</vt:lpstr>
      <vt:lpstr>Eight Core Components Wired to the Arduino Mega</vt:lpstr>
      <vt:lpstr>Five New Components Added to the Mega</vt:lpstr>
      <vt:lpstr>Four Steps Inside loop()</vt:lpstr>
      <vt:lpstr>Four Steps From Button Press to Acknowledgement</vt:lpstr>
      <vt:lpstr>Regression and Anomaly Detection, Written in C</vt:lpstr>
      <vt:lpstr>Plain-English Control Through the Serial Monitor</vt:lpstr>
      <vt:lpstr>Core Language Features Used in the Firmware</vt:lpstr>
      <vt:lpstr>Dashboard &amp; Forecasting Built on the Firmware Data</vt:lpstr>
      <vt:lpstr>Serial Lines Streamed From the Arduino to the Dashboard</vt:lpstr>
      <vt:lpstr>How InfusiMetrics Surpasses Traditional Solutions</vt:lpstr>
      <vt:lpstr>Validated Results from the Python Dashboard</vt:lpstr>
      <vt:lpstr>Expanding InfusiMetrics for Scalable Clinical Deployment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InfusiMetrics</dc:title>
  <dc:subject>PptxGenJS Presentation</dc:subject>
  <dc:creator>PptxGenJS</dc:creator>
  <cp:lastModifiedBy>Kavin Murugesan</cp:lastModifiedBy>
  <cp:revision>3</cp:revision>
  <dcterms:created xsi:type="dcterms:W3CDTF">2026-10-16T22:03:19Z</dcterms:created>
  <dcterms:modified xsi:type="dcterms:W3CDTF">2026-10-22T06:31:55Z</dcterms:modified>
</cp:coreProperties>
</file>